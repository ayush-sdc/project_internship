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Nunito"/>
      <p:regular r:id="rId201314"/>
    </p:embeddedFont>
    <p:embeddedFont>
      <p:font typeface="Nunito SemiBold"/>
      <p:regular r:id="rId201315"/>
    </p:embeddedFont>
    <p:embeddedFont>
      <p:font typeface="Nunito Bold"/>
      <p:regular r:id="rId201316"/>
    </p:embeddedFont>
    <p:embeddedFont>
      <p:font typeface="Nunito Black"/>
      <p:regular r:id="rId201317"/>
    </p:embeddedFont>
    <p:embeddedFont>
      <p:font typeface="PT Sans"/>
      <p:regular r:id="rId201318"/>
    </p:embeddedFont>
    <p:embeddedFont>
      <p:font typeface="PT Sans 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3FF">
              <a:alpha val="7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4.png"/><Relationship Id="rId5" Type="http://schemas.openxmlformats.org/officeDocument/2006/relationships/image" Target="../media/image-2-5.svg"/><Relationship Id="rId6" Type="http://schemas.openxmlformats.org/officeDocument/2006/relationships/image" Target="../media/image-2-6.png"/><Relationship Id="rId7" Type="http://schemas.openxmlformats.org/officeDocument/2006/relationships/image" Target="../media/image-2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1372493"/>
            <a:ext cx="4667845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AI Product Recommendation Engine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52577" y="2476872"/>
            <a:ext cx="4667845" cy="129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i="1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Intelligent Personalized Shopping Assistant</a:t>
            </a:r>
            <a:endParaRPr lang="en-US" sz="1150" dirty="0"/>
          </a:p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Ayush Prajapati - MPOnline - Advanced Software Engineering &amp; Development Internship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Date: 5 - August -2026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52214"/>
            <a:ext cx="4667845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Problem Statement</a:t>
            </a:r>
            <a:endParaRPr lang="en-US" sz="2150" dirty="0"/>
          </a:p>
        </p:txBody>
      </p:sp>
      <p:sp>
        <p:nvSpPr>
          <p:cNvPr id="4" name="Text 1"/>
          <p:cNvSpPr/>
          <p:nvPr/>
        </p:nvSpPr>
        <p:spPr>
          <a:xfrm>
            <a:off x="3952577" y="1016124"/>
            <a:ext cx="4667845" cy="1320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Customers struggle to find relevant products among overwhelming choice.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Traditional systems favor popularity, not individual fit.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Information overload leads to abandoned sessions and lost revenue.</a:t>
            </a:r>
            <a:endParaRPr lang="en-US" sz="1150" dirty="0"/>
          </a:p>
          <a:p>
            <a:pPr algn="l" marL="233680" indent="-233680">
              <a:lnSpc>
                <a:spcPct val="132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Businesses miss conversions when discovery fails.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2499866"/>
            <a:ext cx="368126" cy="36812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501902" y="2499866"/>
            <a:ext cx="4118521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Shopping Friction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4501902" y="2803327"/>
            <a:ext cx="4118521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High browse-to-purchase drop-offs from poor discovery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3326978"/>
            <a:ext cx="368126" cy="36812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501902" y="3326978"/>
            <a:ext cx="4118521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User Frustration</a:t>
            </a:r>
            <a:endParaRPr lang="en-US" sz="1350" dirty="0"/>
          </a:p>
        </p:txBody>
      </p:sp>
      <p:sp>
        <p:nvSpPr>
          <p:cNvPr id="10" name="Text 5"/>
          <p:cNvSpPr/>
          <p:nvPr/>
        </p:nvSpPr>
        <p:spPr>
          <a:xfrm>
            <a:off x="4501902" y="3630439"/>
            <a:ext cx="4118521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Difficulty locating relevant items reduces trust and retention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952577" y="4154091"/>
            <a:ext cx="368126" cy="36812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501902" y="4154091"/>
            <a:ext cx="4118521" cy="216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E‑commerce Growth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4501902" y="4457551"/>
            <a:ext cx="4118521" cy="23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Rapid market growth increases need for precise personalization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1434554"/>
            <a:ext cx="4667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523577" y="2010966"/>
            <a:ext cx="4667845" cy="16979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Deliver personalized product recommendations per user.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Model and understand user behavior across signals.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Increase engagement, CTR, and conversions.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Solve cold-start for new users &amp; products.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Provide explainable, auditable recommendations.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Support real-time recommendations at scale.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41127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Existing System vs Proposed AI System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23577" y="1692399"/>
            <a:ext cx="8096845" cy="2409974"/>
          </a:xfrm>
          <a:prstGeom prst="roundRect">
            <a:avLst>
              <a:gd name="adj" fmla="val 9312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23577" y="2127945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23577" y="2561109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23577" y="2994273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523577" y="3427437"/>
            <a:ext cx="8096845" cy="9351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572000" y="1692399"/>
            <a:ext cx="9351" cy="240997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28340" y="1697162"/>
            <a:ext cx="4043660" cy="430783"/>
          </a:xfrm>
          <a:custGeom>
            <a:avLst/>
            <a:gdLst/>
            <a:ahLst/>
            <a:cxnLst/>
            <a:rect l="l" t="t" r="r" b="b"/>
            <a:pathLst>
              <a:path w="4043660" h="430783">
                <a:moveTo>
                  <a:pt x="187016" y="0"/>
                </a:moveTo>
                <a:lnTo>
                  <a:pt x="4043660" y="0"/>
                </a:lnTo>
                <a:lnTo>
                  <a:pt x="4043660" y="430783"/>
                </a:lnTo>
                <a:lnTo>
                  <a:pt x="0" y="430783"/>
                </a:lnTo>
                <a:lnTo>
                  <a:pt x="0" y="187016"/>
                </a:lnTo>
                <a:arcTo hR="187016" wR="187016" stAng="10800000" swAng="5400000"/>
                <a:close/>
              </a:path>
            </a:pathLst>
          </a:custGeom>
          <a:solidFill>
            <a:srgbClr val="2D4DF2"/>
          </a:solidFill>
          <a:ln/>
        </p:spPr>
      </p:sp>
      <p:sp>
        <p:nvSpPr>
          <p:cNvPr id="10" name="Text 8"/>
          <p:cNvSpPr/>
          <p:nvPr/>
        </p:nvSpPr>
        <p:spPr>
          <a:xfrm>
            <a:off x="677912" y="1791667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Existing System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0" y="1697162"/>
            <a:ext cx="4043660" cy="430783"/>
          </a:xfrm>
          <a:custGeom>
            <a:avLst/>
            <a:gdLst/>
            <a:ahLst/>
            <a:cxnLst/>
            <a:rect l="l" t="t" r="r" b="b"/>
            <a:pathLst>
              <a:path w="4043660" h="430783">
                <a:moveTo>
                  <a:pt x="0" y="0"/>
                </a:moveTo>
                <a:lnTo>
                  <a:pt x="3856644" y="0"/>
                </a:lnTo>
                <a:arcTo hR="187016" wR="187016" stAng="16200000" swAng="5400000"/>
                <a:lnTo>
                  <a:pt x="4043660" y="430783"/>
                </a:lnTo>
                <a:lnTo>
                  <a:pt x="0" y="430783"/>
                </a:lnTo>
                <a:lnTo>
                  <a:pt x="0" y="0"/>
                </a:lnTo>
                <a:close/>
              </a:path>
            </a:pathLst>
          </a:custGeom>
          <a:solidFill>
            <a:srgbClr val="018CE1"/>
          </a:solidFill>
          <a:ln/>
        </p:spPr>
      </p:sp>
      <p:sp>
        <p:nvSpPr>
          <p:cNvPr id="12" name="Text 10"/>
          <p:cNvSpPr/>
          <p:nvPr/>
        </p:nvSpPr>
        <p:spPr>
          <a:xfrm>
            <a:off x="4723954" y="1791667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Proposed AI System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77912" y="2224832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Popularity-based suggestions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723954" y="2224832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Collaborative Filtering (user-item interactions)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77912" y="2657996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Rule-based logic, manual tuning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723954" y="2657996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Content-based &amp; hybrid models with learned features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7912" y="3091160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Limited personalization, static lists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23954" y="3091160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Deep learning embeddings and real-time ranking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77912" y="3524324"/>
            <a:ext cx="4199334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Slow to adapt to trends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3954" y="3524324"/>
            <a:ext cx="3742134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NLP for reviews, session-aware recommendations, fast updates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1068586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Technologies — Full Stack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19858"/>
            <a:ext cx="414412" cy="414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24992" y="1719858"/>
            <a:ext cx="12825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124992" y="2029569"/>
            <a:ext cx="1282526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React · TypeScript · Tailwind CSS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521" y="1719858"/>
            <a:ext cx="414412" cy="414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195935" y="1719858"/>
            <a:ext cx="12825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Backend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3195935" y="2029569"/>
            <a:ext cx="12825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FastAPI · Python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464" y="1719858"/>
            <a:ext cx="414412" cy="414412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266879" y="1719858"/>
            <a:ext cx="12825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ML Frameworks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5266879" y="2029569"/>
            <a:ext cx="128252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Scikit-Learn · TensorFlow · PyTorch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6407" y="1719858"/>
            <a:ext cx="414412" cy="41441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337822" y="1719858"/>
            <a:ext cx="1282601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&amp; Storage</a:t>
            </a:r>
            <a:endParaRPr lang="en-US" sz="1350" dirty="0"/>
          </a:p>
        </p:txBody>
      </p:sp>
      <p:sp>
        <p:nvSpPr>
          <p:cNvPr id="14" name="Text 8"/>
          <p:cNvSpPr/>
          <p:nvPr/>
        </p:nvSpPr>
        <p:spPr>
          <a:xfrm>
            <a:off x="7337822" y="2029569"/>
            <a:ext cx="1282601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PostgreSQL · MongoDB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577" y="3046958"/>
            <a:ext cx="414412" cy="414412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124992" y="3046958"/>
            <a:ext cx="12825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Deployment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1124992" y="3356670"/>
            <a:ext cx="1282526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Docker · AWS / Render / Railway · GitHub CI</a:t>
            </a:r>
            <a:endParaRPr lang="en-US" sz="11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4521" y="3046958"/>
            <a:ext cx="414412" cy="414412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3195935" y="3046958"/>
            <a:ext cx="1282526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20" name="Text 12"/>
          <p:cNvSpPr/>
          <p:nvPr/>
        </p:nvSpPr>
        <p:spPr>
          <a:xfrm>
            <a:off x="3195935" y="3356670"/>
            <a:ext cx="1282526" cy="239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Matplotlib · Plotly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886"/>
            <a:ext cx="8096845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System Architecture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915" y="944314"/>
            <a:ext cx="8030096" cy="3462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35" y="3757130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Recommend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35" y="2955552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FastAPI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97235" y="2162070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Frontend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35" y="1360491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User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531370"/>
            <a:ext cx="85540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Layered, modular design for scalability: decouple frontend, API, model serving, and data storage. Supports batch + streaming pipelines.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45319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Dataset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404938"/>
            <a:ext cx="5135166" cy="290988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28432" y="1356345"/>
            <a:ext cx="2596679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Core fields collected and engineered for modeling: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028432" y="1969740"/>
            <a:ext cx="2596679" cy="1540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Product: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ProductID, Category, Brand, Price, Images, Description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User: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UserID, Demographics, Browsing &amp; Purchase History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00002E"/>
                </a:solidFill>
                <a:latin typeface="PT Sans Bold" pitchFamily="34" charset="0"/>
                <a:ea typeface="PT Sans Bold" pitchFamily="34" charset="-122"/>
                <a:cs typeface="PT Sans Bold" pitchFamily="34" charset="-120"/>
              </a:rPr>
              <a:t>Signals: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 Ratings, Reviews, Session Events, Timestamps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6028432" y="3645322"/>
            <a:ext cx="2596679" cy="718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Example sources: Amazon dataset, Flipkart dumps, curated Kaggle datasets for prototyping.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886"/>
            <a:ext cx="8096845" cy="302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Data Pipeline</a:t>
            </a:r>
            <a:endParaRPr lang="en-US" sz="1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6915" y="944314"/>
            <a:ext cx="8030096" cy="3462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35" y="3757130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Training &amp; Deploy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1097235" y="2955552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1097235" y="2162070"/>
            <a:ext cx="1714487" cy="214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Feature Eng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35" y="1360491"/>
            <a:ext cx="1714487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Cleaning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23577" y="4531370"/>
            <a:ext cx="8554045" cy="191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0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Pipeline handles missing values, textual embedding (NLP), categorical encoding, and scalable preprocessing for batch and streaming inputs.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66948"/>
            <a:ext cx="8096845" cy="2695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Recommendation Algorithms</a:t>
            </a:r>
            <a:endParaRPr lang="en-US" sz="1650" dirty="0"/>
          </a:p>
        </p:txBody>
      </p:sp>
      <p:sp>
        <p:nvSpPr>
          <p:cNvPr id="3" name="Shape 1"/>
          <p:cNvSpPr/>
          <p:nvPr/>
        </p:nvSpPr>
        <p:spPr>
          <a:xfrm>
            <a:off x="523577" y="966564"/>
            <a:ext cx="2652266" cy="837084"/>
          </a:xfrm>
          <a:prstGeom prst="roundRect">
            <a:avLst>
              <a:gd name="adj" fmla="val 20526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2388" y="1095375"/>
            <a:ext cx="2394645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Collaborative Filtering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52388" y="1351434"/>
            <a:ext cx="2394645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User-user and item-item similarity, matrix factorization for latent factors.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23577" y="1891308"/>
            <a:ext cx="2652266" cy="837084"/>
          </a:xfrm>
          <a:prstGeom prst="roundRect">
            <a:avLst>
              <a:gd name="adj" fmla="val 20526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018C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52388" y="2020119"/>
            <a:ext cx="2394645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Content-Based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52388" y="2276177"/>
            <a:ext cx="2394645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TF‑IDF / BERT for product text, attribute matching, cosine similarity.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23577" y="2816051"/>
            <a:ext cx="2652266" cy="837084"/>
          </a:xfrm>
          <a:prstGeom prst="roundRect">
            <a:avLst>
              <a:gd name="adj" fmla="val 20526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DA33B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388" y="2944862"/>
            <a:ext cx="2394645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Hybrid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52388" y="3200921"/>
            <a:ext cx="2394645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Weighted blend or meta-learner combining CF + content signals.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3577" y="3740795"/>
            <a:ext cx="2652266" cy="837084"/>
          </a:xfrm>
          <a:prstGeom prst="roundRect">
            <a:avLst>
              <a:gd name="adj" fmla="val 20526"/>
            </a:avLst>
          </a:prstGeom>
          <a:solidFill>
            <a:srgbClr val="F3F3FF">
              <a:alpha val="75000"/>
            </a:srgbClr>
          </a:solidFill>
          <a:ln w="14288">
            <a:solidFill>
              <a:srgbClr val="2D4D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2388" y="3869606"/>
            <a:ext cx="2394645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Deep Learning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2388" y="4125664"/>
            <a:ext cx="2394645" cy="3234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Embeddings, Neural Collaborative Filtering, Autoencoders for denoising.</a:t>
            </a:r>
            <a:endParaRPr lang="en-US" sz="9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59956" y="1308795"/>
            <a:ext cx="5165154" cy="292685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52065"/>
            <a:ext cx="8096845" cy="35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Machine Learning Workflow</a:t>
            </a:r>
            <a:endParaRPr lang="en-US" sz="22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3207" y="1103337"/>
            <a:ext cx="7837512" cy="294099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5840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Test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5496033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Validate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14321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Train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2532610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018512" y="3337082"/>
            <a:ext cx="1182130" cy="214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2E"/>
                </a:solidFill>
                <a:latin typeface="Nunito SemiBold" pitchFamily="34" charset="0"/>
                <a:ea typeface="Nunito SemiBold" pitchFamily="34" charset="-122"/>
                <a:cs typeface="Nunito SemiBold" pitchFamily="34" charset="-120"/>
              </a:rPr>
              <a:t>Collect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523577" y="4212580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2E"/>
                </a:solidFill>
                <a:latin typeface="PT Sans" pitchFamily="34" charset="0"/>
                <a:ea typeface="PT Sans" pitchFamily="34" charset="-122"/>
                <a:cs typeface="PT Sans" pitchFamily="34" charset="-120"/>
              </a:rPr>
              <a:t>Emphasize versioning (models &amp; data), CI for training pipelines, monitoring for data drift and model performance in production.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2026-08-05T18:33:39Z</dcterms:created>
  <dcterms:modified xsi:type="dcterms:W3CDTF">2026-08-05T18:33:39Z</dcterms:modified>
</cp:coreProperties>
</file>